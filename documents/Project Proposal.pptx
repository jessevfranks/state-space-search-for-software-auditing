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sldIdLst>
    <p:sldId id="256" r:id="rId2"/>
    <p:sldId id="260" r:id="rId3"/>
    <p:sldId id="261" r:id="rId4"/>
    <p:sldId id="258"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0D69949-18AB-4E62-8918-22DD7D75160C}" v="4" dt="2025-11-17T14:29:20.7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4660"/>
  </p:normalViewPr>
  <p:slideViewPr>
    <p:cSldViewPr snapToGrid="0">
      <p:cViewPr varScale="1">
        <p:scale>
          <a:sx n="110" d="100"/>
          <a:sy n="110" d="100"/>
        </p:scale>
        <p:origin x="114" y="9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4.xml"/><Relationship Id="rId1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sse Franks" userId="c6367dd6-8b21-4116-83af-4168098c397d" providerId="ADAL" clId="{6523A8ED-1780-498F-8807-AF95270D881F}"/>
    <pc:docChg chg="custSel addSld delSld modSld sldOrd">
      <pc:chgData name="Jesse Franks" userId="c6367dd6-8b21-4116-83af-4168098c397d" providerId="ADAL" clId="{6523A8ED-1780-498F-8807-AF95270D881F}" dt="2025-11-17T14:45:19.312" v="2075" actId="20577"/>
      <pc:docMkLst>
        <pc:docMk/>
      </pc:docMkLst>
      <pc:sldChg chg="del">
        <pc:chgData name="Jesse Franks" userId="c6367dd6-8b21-4116-83af-4168098c397d" providerId="ADAL" clId="{6523A8ED-1780-498F-8807-AF95270D881F}" dt="2025-11-17T14:31:02.869" v="428" actId="47"/>
        <pc:sldMkLst>
          <pc:docMk/>
          <pc:sldMk cId="1668319416" sldId="257"/>
        </pc:sldMkLst>
      </pc:sldChg>
      <pc:sldChg chg="modSp mod ord">
        <pc:chgData name="Jesse Franks" userId="c6367dd6-8b21-4116-83af-4168098c397d" providerId="ADAL" clId="{6523A8ED-1780-498F-8807-AF95270D881F}" dt="2025-11-17T14:45:19.312" v="2075" actId="20577"/>
        <pc:sldMkLst>
          <pc:docMk/>
          <pc:sldMk cId="1783537171" sldId="258"/>
        </pc:sldMkLst>
        <pc:spChg chg="mod">
          <ac:chgData name="Jesse Franks" userId="c6367dd6-8b21-4116-83af-4168098c397d" providerId="ADAL" clId="{6523A8ED-1780-498F-8807-AF95270D881F}" dt="2025-11-17T14:45:19.312" v="2075" actId="20577"/>
          <ac:spMkLst>
            <pc:docMk/>
            <pc:sldMk cId="1783537171" sldId="258"/>
            <ac:spMk id="3" creationId="{A268339D-076F-D06C-9F12-A5CB4B177452}"/>
          </ac:spMkLst>
        </pc:spChg>
      </pc:sldChg>
      <pc:sldChg chg="del">
        <pc:chgData name="Jesse Franks" userId="c6367dd6-8b21-4116-83af-4168098c397d" providerId="ADAL" clId="{6523A8ED-1780-498F-8807-AF95270D881F}" dt="2025-11-17T14:28:43.763" v="166" actId="47"/>
        <pc:sldMkLst>
          <pc:docMk/>
          <pc:sldMk cId="2328425103" sldId="259"/>
        </pc:sldMkLst>
      </pc:sldChg>
      <pc:sldChg chg="modSp new mod">
        <pc:chgData name="Jesse Franks" userId="c6367dd6-8b21-4116-83af-4168098c397d" providerId="ADAL" clId="{6523A8ED-1780-498F-8807-AF95270D881F}" dt="2025-11-17T14:30:51.434" v="425" actId="20577"/>
        <pc:sldMkLst>
          <pc:docMk/>
          <pc:sldMk cId="1641624386" sldId="260"/>
        </pc:sldMkLst>
        <pc:spChg chg="mod">
          <ac:chgData name="Jesse Franks" userId="c6367dd6-8b21-4116-83af-4168098c397d" providerId="ADAL" clId="{6523A8ED-1780-498F-8807-AF95270D881F}" dt="2025-11-17T14:26:37.676" v="24" actId="1036"/>
          <ac:spMkLst>
            <pc:docMk/>
            <pc:sldMk cId="1641624386" sldId="260"/>
            <ac:spMk id="2" creationId="{C95A7647-143F-A726-B837-9D46941CEA5C}"/>
          </ac:spMkLst>
        </pc:spChg>
        <pc:spChg chg="mod">
          <ac:chgData name="Jesse Franks" userId="c6367dd6-8b21-4116-83af-4168098c397d" providerId="ADAL" clId="{6523A8ED-1780-498F-8807-AF95270D881F}" dt="2025-11-17T14:30:51.434" v="425" actId="20577"/>
          <ac:spMkLst>
            <pc:docMk/>
            <pc:sldMk cId="1641624386" sldId="260"/>
            <ac:spMk id="3" creationId="{4785AC67-9B14-24C4-736D-B395B7115A98}"/>
          </ac:spMkLst>
        </pc:spChg>
      </pc:sldChg>
      <pc:sldChg chg="modSp new mod">
        <pc:chgData name="Jesse Franks" userId="c6367dd6-8b21-4116-83af-4168098c397d" providerId="ADAL" clId="{6523A8ED-1780-498F-8807-AF95270D881F}" dt="2025-11-17T14:40:59.375" v="1558" actId="20577"/>
        <pc:sldMkLst>
          <pc:docMk/>
          <pc:sldMk cId="4059255481" sldId="261"/>
        </pc:sldMkLst>
        <pc:spChg chg="mod">
          <ac:chgData name="Jesse Franks" userId="c6367dd6-8b21-4116-83af-4168098c397d" providerId="ADAL" clId="{6523A8ED-1780-498F-8807-AF95270D881F}" dt="2025-11-17T14:27:51.025" v="103" actId="20577"/>
          <ac:spMkLst>
            <pc:docMk/>
            <pc:sldMk cId="4059255481" sldId="261"/>
            <ac:spMk id="2" creationId="{ECF07E63-21B0-B908-280C-54AF7A4E35B5}"/>
          </ac:spMkLst>
        </pc:spChg>
        <pc:spChg chg="mod">
          <ac:chgData name="Jesse Franks" userId="c6367dd6-8b21-4116-83af-4168098c397d" providerId="ADAL" clId="{6523A8ED-1780-498F-8807-AF95270D881F}" dt="2025-11-17T14:40:59.375" v="1558" actId="20577"/>
          <ac:spMkLst>
            <pc:docMk/>
            <pc:sldMk cId="4059255481" sldId="261"/>
            <ac:spMk id="3" creationId="{1C91C5BB-863B-C30D-65BB-96D7CF673F66}"/>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11/17/2025</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778571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11/17/2025</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1668452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11/17/2025</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249014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11/17/2025</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843630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11/17/2025</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3979215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11/17/2025</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0210912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11/17/2025</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0861422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11/17/2025</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5730280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11/17/2025</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8944079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11/17/2025</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6812971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11/17/2025</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8920299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11/17/2025</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1655827"/>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66" r:id="rId6"/>
    <p:sldLayoutId id="2147483662" r:id="rId7"/>
    <p:sldLayoutId id="2147483663" r:id="rId8"/>
    <p:sldLayoutId id="2147483664" r:id="rId9"/>
    <p:sldLayoutId id="2147483665" r:id="rId10"/>
    <p:sldLayoutId id="2147483667"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cxnSp>
        <p:nvCxnSpPr>
          <p:cNvPr id="11" name="Straight Connector 10">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Picture 3" descr="A web of dots connected">
            <a:extLst>
              <a:ext uri="{FF2B5EF4-FFF2-40B4-BE49-F238E27FC236}">
                <a16:creationId xmlns:a16="http://schemas.microsoft.com/office/drawing/2014/main" id="{9480CFF7-893A-F2A0-9CD2-7CDBA2B5A5F5}"/>
              </a:ext>
            </a:extLst>
          </p:cNvPr>
          <p:cNvPicPr>
            <a:picLocks noChangeAspect="1"/>
          </p:cNvPicPr>
          <p:nvPr/>
        </p:nvPicPr>
        <p:blipFill>
          <a:blip r:embed="rId2"/>
          <a:srcRect l="20444" r="1" b="1"/>
          <a:stretch>
            <a:fillRect/>
          </a:stretch>
        </p:blipFill>
        <p:spPr>
          <a:xfrm>
            <a:off x="20" y="10"/>
            <a:ext cx="12191979" cy="6857990"/>
          </a:xfrm>
          <a:prstGeom prst="rect">
            <a:avLst/>
          </a:prstGeom>
        </p:spPr>
      </p:pic>
      <p:sp>
        <p:nvSpPr>
          <p:cNvPr id="13" name="Rectangle 12">
            <a:extLst>
              <a:ext uri="{FF2B5EF4-FFF2-40B4-BE49-F238E27FC236}">
                <a16:creationId xmlns:a16="http://schemas.microsoft.com/office/drawing/2014/main" id="{EFBAAD93-7DE6-47D1-3609-446AE138A2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507179" y="173181"/>
            <a:ext cx="6858002" cy="6511640"/>
          </a:xfrm>
          <a:prstGeom prst="rect">
            <a:avLst/>
          </a:prstGeom>
          <a:gradFill>
            <a:gsLst>
              <a:gs pos="0">
                <a:schemeClr val="bg1">
                  <a:alpha val="0"/>
                </a:schemeClr>
              </a:gs>
              <a:gs pos="46000">
                <a:schemeClr val="bg1">
                  <a:alpha val="30000"/>
                </a:schemeClr>
              </a:gs>
              <a:gs pos="26000">
                <a:schemeClr val="bg1">
                  <a:alpha val="17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37BF8AE1-A7D0-6C68-170D-2F6DE11BD82B}"/>
              </a:ext>
            </a:extLst>
          </p:cNvPr>
          <p:cNvSpPr>
            <a:spLocks noGrp="1"/>
          </p:cNvSpPr>
          <p:nvPr>
            <p:ph type="ctrTitle"/>
          </p:nvPr>
        </p:nvSpPr>
        <p:spPr>
          <a:xfrm>
            <a:off x="7145736" y="908651"/>
            <a:ext cx="4754880" cy="4171779"/>
          </a:xfrm>
        </p:spPr>
        <p:txBody>
          <a:bodyPr anchor="t">
            <a:normAutofit/>
          </a:bodyPr>
          <a:lstStyle/>
          <a:p>
            <a:r>
              <a:rPr lang="en-US" sz="6600" dirty="0">
                <a:solidFill>
                  <a:schemeClr val="accent3"/>
                </a:solidFill>
              </a:rPr>
              <a:t>State Space sleuth</a:t>
            </a:r>
          </a:p>
        </p:txBody>
      </p:sp>
      <p:sp>
        <p:nvSpPr>
          <p:cNvPr id="3" name="Subtitle 2">
            <a:extLst>
              <a:ext uri="{FF2B5EF4-FFF2-40B4-BE49-F238E27FC236}">
                <a16:creationId xmlns:a16="http://schemas.microsoft.com/office/drawing/2014/main" id="{FA6BEA84-B1C9-7676-1EFA-1075273F2DF9}"/>
              </a:ext>
            </a:extLst>
          </p:cNvPr>
          <p:cNvSpPr>
            <a:spLocks noGrp="1"/>
          </p:cNvSpPr>
          <p:nvPr>
            <p:ph type="subTitle" idx="1"/>
          </p:nvPr>
        </p:nvSpPr>
        <p:spPr>
          <a:xfrm>
            <a:off x="7145736" y="5216955"/>
            <a:ext cx="4754880" cy="1003638"/>
          </a:xfrm>
        </p:spPr>
        <p:txBody>
          <a:bodyPr anchor="b">
            <a:normAutofit/>
          </a:bodyPr>
          <a:lstStyle/>
          <a:p>
            <a:r>
              <a:rPr lang="en-US" sz="2400" dirty="0">
                <a:solidFill>
                  <a:schemeClr val="accent3"/>
                </a:solidFill>
              </a:rPr>
              <a:t>Jesse Franks</a:t>
            </a:r>
          </a:p>
        </p:txBody>
      </p:sp>
      <p:cxnSp>
        <p:nvCxnSpPr>
          <p:cNvPr id="15" name="Straight Connector 14">
            <a:extLst>
              <a:ext uri="{FF2B5EF4-FFF2-40B4-BE49-F238E27FC236}">
                <a16:creationId xmlns:a16="http://schemas.microsoft.com/office/drawing/2014/main" id="{90236859-7780-1451-40B8-74A77E2715D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62326" y="727509"/>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9767598"/>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A7647-143F-A726-B837-9D46941CEA5C}"/>
              </a:ext>
            </a:extLst>
          </p:cNvPr>
          <p:cNvSpPr>
            <a:spLocks noGrp="1"/>
          </p:cNvSpPr>
          <p:nvPr>
            <p:ph type="title"/>
          </p:nvPr>
        </p:nvSpPr>
        <p:spPr>
          <a:xfrm>
            <a:off x="700635" y="923109"/>
            <a:ext cx="10691265" cy="1307592"/>
          </a:xfrm>
        </p:spPr>
        <p:txBody>
          <a:bodyPr/>
          <a:lstStyle/>
          <a:p>
            <a:r>
              <a:rPr lang="en-US" dirty="0"/>
              <a:t>Intro</a:t>
            </a:r>
          </a:p>
        </p:txBody>
      </p:sp>
      <p:sp>
        <p:nvSpPr>
          <p:cNvPr id="3" name="Content Placeholder 2">
            <a:extLst>
              <a:ext uri="{FF2B5EF4-FFF2-40B4-BE49-F238E27FC236}">
                <a16:creationId xmlns:a16="http://schemas.microsoft.com/office/drawing/2014/main" id="{4785AC67-9B14-24C4-736D-B395B7115A98}"/>
              </a:ext>
            </a:extLst>
          </p:cNvPr>
          <p:cNvSpPr>
            <a:spLocks noGrp="1"/>
          </p:cNvSpPr>
          <p:nvPr>
            <p:ph idx="1"/>
          </p:nvPr>
        </p:nvSpPr>
        <p:spPr/>
        <p:txBody>
          <a:bodyPr/>
          <a:lstStyle/>
          <a:p>
            <a:pPr marL="0" indent="0">
              <a:buNone/>
            </a:pPr>
            <a:r>
              <a:rPr lang="en-US" dirty="0"/>
              <a:t>Overview of Problem and why it matters: </a:t>
            </a:r>
          </a:p>
          <a:p>
            <a:r>
              <a:rPr lang="en-US" dirty="0"/>
              <a:t>Software testing is tricky, and it’s hard to cover every combination of inputs a user can give. While creating and testing robust software helps to mitigate risk, you can never achieve 0 risk. Software with security vulnerabilities can leads to a wide range of problems, including loss of personal data, negative PR, and lost revenue.</a:t>
            </a:r>
          </a:p>
          <a:p>
            <a:pPr marL="0" indent="0">
              <a:buNone/>
            </a:pPr>
            <a:r>
              <a:rPr lang="en-US" dirty="0"/>
              <a:t>Objective: </a:t>
            </a:r>
          </a:p>
          <a:p>
            <a:r>
              <a:rPr lang="en-US" dirty="0"/>
              <a:t>Create an agent that can expose SQL injection vulnerabilities in an application</a:t>
            </a:r>
          </a:p>
        </p:txBody>
      </p:sp>
    </p:spTree>
    <p:extLst>
      <p:ext uri="{BB962C8B-B14F-4D97-AF65-F5344CB8AC3E}">
        <p14:creationId xmlns:p14="http://schemas.microsoft.com/office/powerpoint/2010/main" val="16416243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07E63-21B0-B908-280C-54AF7A4E35B5}"/>
              </a:ext>
            </a:extLst>
          </p:cNvPr>
          <p:cNvSpPr>
            <a:spLocks noGrp="1"/>
          </p:cNvSpPr>
          <p:nvPr>
            <p:ph type="title"/>
          </p:nvPr>
        </p:nvSpPr>
        <p:spPr/>
        <p:txBody>
          <a:bodyPr/>
          <a:lstStyle/>
          <a:p>
            <a:r>
              <a:rPr lang="en-US" dirty="0"/>
              <a:t>Proposed Solution</a:t>
            </a:r>
          </a:p>
        </p:txBody>
      </p:sp>
      <p:sp>
        <p:nvSpPr>
          <p:cNvPr id="3" name="Content Placeholder 2">
            <a:extLst>
              <a:ext uri="{FF2B5EF4-FFF2-40B4-BE49-F238E27FC236}">
                <a16:creationId xmlns:a16="http://schemas.microsoft.com/office/drawing/2014/main" id="{1C91C5BB-863B-C30D-65BB-96D7CF673F66}"/>
              </a:ext>
            </a:extLst>
          </p:cNvPr>
          <p:cNvSpPr>
            <a:spLocks noGrp="1"/>
          </p:cNvSpPr>
          <p:nvPr>
            <p:ph idx="1"/>
          </p:nvPr>
        </p:nvSpPr>
        <p:spPr/>
        <p:txBody>
          <a:bodyPr>
            <a:normAutofit lnSpcReduction="10000"/>
          </a:bodyPr>
          <a:lstStyle/>
          <a:p>
            <a:pPr marL="0" indent="0">
              <a:buNone/>
            </a:pPr>
            <a:r>
              <a:rPr lang="en-US" dirty="0"/>
              <a:t>Our agent can explore the state space of an application and intelligently work to find erroneous states in it. The approach will use A*, and a comparison to BFS, to do this. The state space will be represented by the response of our login page, where the algorithm aims to login as an Admin without providing a password. SQLite will be used to host the DB. A lightweight Flask app will be used as the “victim”, and </a:t>
            </a:r>
            <a:r>
              <a:rPr lang="en-US" dirty="0" err="1"/>
              <a:t>BeautifulSoup</a:t>
            </a:r>
            <a:r>
              <a:rPr lang="en-US" dirty="0"/>
              <a:t> will be used to help parse HTML responses.</a:t>
            </a:r>
          </a:p>
          <a:p>
            <a:pPr marL="0" indent="0">
              <a:buNone/>
            </a:pPr>
            <a:endParaRPr lang="en-US" dirty="0"/>
          </a:p>
          <a:p>
            <a:pPr marL="0" indent="0">
              <a:buNone/>
            </a:pPr>
            <a:r>
              <a:rPr lang="en-US" dirty="0"/>
              <a:t>Deliverable: An intelligent agent that iterates on predefined username and password variations to attempt to login to our application as an Admin without providing a password. The path the agent takes will be tracked along with other metrics that seem fitting as the project is developed. These metrics will be used to document the process and as a comparison between the DFS and BFS approach.</a:t>
            </a:r>
          </a:p>
          <a:p>
            <a:pPr marL="0" indent="0">
              <a:buNone/>
            </a:pPr>
            <a:endParaRPr lang="en-US" dirty="0"/>
          </a:p>
        </p:txBody>
      </p:sp>
    </p:spTree>
    <p:extLst>
      <p:ext uri="{BB962C8B-B14F-4D97-AF65-F5344CB8AC3E}">
        <p14:creationId xmlns:p14="http://schemas.microsoft.com/office/powerpoint/2010/main" val="40592554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9E412-7D03-557B-6F81-674D229DD58B}"/>
              </a:ext>
            </a:extLst>
          </p:cNvPr>
          <p:cNvSpPr>
            <a:spLocks noGrp="1"/>
          </p:cNvSpPr>
          <p:nvPr>
            <p:ph type="title"/>
          </p:nvPr>
        </p:nvSpPr>
        <p:spPr/>
        <p:txBody>
          <a:bodyPr/>
          <a:lstStyle/>
          <a:p>
            <a:r>
              <a:rPr lang="en-US" dirty="0"/>
              <a:t>Technical details</a:t>
            </a:r>
          </a:p>
        </p:txBody>
      </p:sp>
      <p:sp>
        <p:nvSpPr>
          <p:cNvPr id="3" name="Content Placeholder 2">
            <a:extLst>
              <a:ext uri="{FF2B5EF4-FFF2-40B4-BE49-F238E27FC236}">
                <a16:creationId xmlns:a16="http://schemas.microsoft.com/office/drawing/2014/main" id="{A268339D-076F-D06C-9F12-A5CB4B177452}"/>
              </a:ext>
            </a:extLst>
          </p:cNvPr>
          <p:cNvSpPr>
            <a:spLocks noGrp="1"/>
          </p:cNvSpPr>
          <p:nvPr>
            <p:ph idx="1"/>
          </p:nvPr>
        </p:nvSpPr>
        <p:spPr/>
        <p:txBody>
          <a:bodyPr>
            <a:normAutofit fontScale="92500"/>
          </a:bodyPr>
          <a:lstStyle/>
          <a:p>
            <a:pPr marL="0" indent="0">
              <a:buNone/>
            </a:pPr>
            <a:r>
              <a:rPr lang="en-US" dirty="0"/>
              <a:t>Roadmap:</a:t>
            </a:r>
          </a:p>
          <a:p>
            <a:pPr marL="457200" indent="-457200">
              <a:buFont typeface="+mj-lt"/>
              <a:buAutoNum type="arabicPeriod"/>
            </a:pPr>
            <a:r>
              <a:rPr lang="en-US" dirty="0"/>
              <a:t>Create a lightweight app with a /login endpoint, where there are username and password fields</a:t>
            </a:r>
          </a:p>
          <a:p>
            <a:pPr marL="457200" indent="-457200">
              <a:buFont typeface="+mj-lt"/>
              <a:buAutoNum type="arabicPeriod"/>
            </a:pPr>
            <a:r>
              <a:rPr lang="en-US" dirty="0"/>
              <a:t>Create the DB to store our users in</a:t>
            </a:r>
          </a:p>
          <a:p>
            <a:pPr marL="457200" indent="-457200">
              <a:buFont typeface="+mj-lt"/>
              <a:buAutoNum type="arabicPeriod"/>
            </a:pPr>
            <a:r>
              <a:rPr lang="en-US" dirty="0"/>
              <a:t>Implement a State class to hold information on a state, such as the cost(s), username, password, and parent State. We will also implement a __le__ method to help compare states in the heap</a:t>
            </a:r>
          </a:p>
          <a:p>
            <a:pPr marL="457200" indent="-457200">
              <a:buFont typeface="+mj-lt"/>
              <a:buAutoNum type="arabicPeriod"/>
            </a:pPr>
            <a:r>
              <a:rPr lang="en-US" dirty="0"/>
              <a:t>Implement helpers to calculate costs and generate mutations</a:t>
            </a:r>
          </a:p>
          <a:p>
            <a:pPr marL="457200" indent="-457200">
              <a:buFont typeface="+mj-lt"/>
              <a:buAutoNum type="arabicPeriod"/>
            </a:pPr>
            <a:r>
              <a:rPr lang="en-US" dirty="0"/>
              <a:t>Implement the A* and BFS algorithms</a:t>
            </a:r>
          </a:p>
          <a:p>
            <a:pPr marL="457200" indent="-457200">
              <a:buFont typeface="+mj-lt"/>
              <a:buAutoNum type="arabicPeriod"/>
            </a:pPr>
            <a:r>
              <a:rPr lang="en-US" dirty="0"/>
              <a:t>Write a script </a:t>
            </a:r>
            <a:r>
              <a:rPr lang="en-US"/>
              <a:t>to log </a:t>
            </a:r>
            <a:r>
              <a:rPr lang="en-US" dirty="0"/>
              <a:t>information throughout the process.</a:t>
            </a:r>
          </a:p>
          <a:p>
            <a:pPr marL="457200" indent="-457200">
              <a:buFont typeface="+mj-lt"/>
              <a:buAutoNum type="arabicPeriod"/>
            </a:pPr>
            <a:endParaRPr lang="en-US" dirty="0"/>
          </a:p>
        </p:txBody>
      </p:sp>
    </p:spTree>
    <p:extLst>
      <p:ext uri="{BB962C8B-B14F-4D97-AF65-F5344CB8AC3E}">
        <p14:creationId xmlns:p14="http://schemas.microsoft.com/office/powerpoint/2010/main" val="1783537171"/>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docProps/app.xml><?xml version="1.0" encoding="utf-8"?>
<Properties xmlns="http://schemas.openxmlformats.org/officeDocument/2006/extended-properties" xmlns:vt="http://schemas.openxmlformats.org/officeDocument/2006/docPropsVTypes">
  <TotalTime>43</TotalTime>
  <Words>354</Words>
  <Application>Microsoft Office PowerPoint</Application>
  <PresentationFormat>Widescreen</PresentationFormat>
  <Paragraphs>19</Paragraphs>
  <Slides>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Calisto MT</vt:lpstr>
      <vt:lpstr>Neue Haas Grotesk Text Pro</vt:lpstr>
      <vt:lpstr>Univers Condensed</vt:lpstr>
      <vt:lpstr>ChronicleVTI</vt:lpstr>
      <vt:lpstr>State Space sleuth</vt:lpstr>
      <vt:lpstr>Intro</vt:lpstr>
      <vt:lpstr>Proposed Solution</vt:lpstr>
      <vt:lpstr>Technical details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Jesse Franks</dc:creator>
  <cp:lastModifiedBy>Jesse Franks</cp:lastModifiedBy>
  <cp:revision>1</cp:revision>
  <dcterms:created xsi:type="dcterms:W3CDTF">2025-11-13T21:23:46Z</dcterms:created>
  <dcterms:modified xsi:type="dcterms:W3CDTF">2025-11-17T14:45:24Z</dcterms:modified>
</cp:coreProperties>
</file>